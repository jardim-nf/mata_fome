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194560"/>
            <a:ext cx="11521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 Tributária e Aspectos da LC 214/2025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3566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gerais da reforma sobre o consumo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Consultoria Tributária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— Eduardo Oliveira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Contador, Graduado em Ciências Contábeis pela Universidade 7 de Setembro</a:t>
            </a:r>
            <a:endParaRPr lang="en-US" sz="1400" dirty="0"/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Especializado em Direito, Processo e Planejamento Tributário pela UNIFOR</a:t>
            </a:r>
            <a:endParaRPr lang="en-US" sz="1400" dirty="0"/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 da CEO Consultoria Tributária</a:t>
            </a:r>
            <a:endParaRPr lang="en-US" sz="1400" dirty="0"/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 como gestor de planejamento tributário de indústria de grande porte</a:t>
            </a:r>
            <a:endParaRPr lang="en-US" sz="1400" dirty="0"/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Ex-Consultor Tributos com atuação em big four — EY (auditoria, impostos e transações corporativas)</a:t>
            </a:r>
            <a:endParaRPr lang="en-US" sz="1400" dirty="0"/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 tributário com mais de 10 anos de atuação nas áreas contábil/tributária</a:t>
            </a:r>
            <a:endParaRPr lang="en-US" sz="1400" dirty="0"/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Palestrante registrado no CRC-CE, professor de cursos de extensão/in company há mais de 8 anos</a:t>
            </a:r>
            <a:endParaRPr lang="en-US" sz="1400" dirty="0"/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convidado em pós-graduações: Direito Tributário e Reforma Tributária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Introdução — O novo sistema tributário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Impactos no setor de prestação de serviços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Não cumulatividade e Split Payment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Próximos passos e Debates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A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Introdução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Novo Sistema Tributário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 Tributária sobre o consumo — Visão Geral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EXTINÇÃO: PIS/COFINS, ICMS, ISS e IPI (exceto ZFM)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— Federal: CBS (Contribuição sobre Bens e Serviços)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— Subnacional: IBS (Imposto sobre Bens e Serviços)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— Federal: IS (Imposto Seletivo) — bens/serviços prejudiciais à saúde ou ao meio ambiente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 Transição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CBS começa com alíquota de 0,9% (teste)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2027: IBS começa com alíquota de 0,1% (teste)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2029–2032: Redução gradual do ISS/ICMS e aumento do IBS/CBS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2033: Plena vigência do novo sistema — extinção total do ISS e ICMS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 do Novo IVA Dual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ampla de incidência — inclusive aluguéis, intangíveis e mútuos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Vedação a incentivos fiscais (regra geral)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cumulatividade plena — crédito de tudo, exceto uso e consumo pessoal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Legislação uniforme em todo o território nacional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 da neutralidade — decisões econômicas não afetadas por questões tributárias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 — pagamento automático do tributo via meio de pagamento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por fora — mais transparência no cálculo do tributo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Tributação no destino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Incentivos Fiscais — LC 214/25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Contribuinte deve estar adimplente com as normas do ato concessivo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concessivo deve exigir ônus ou restrições: expansão do empreendimento, geração de empregos, limitações de preço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são contrapartidas: declarações de intenção, mero cumprimento obrigatório, destinação a fundos (ex: FEEF)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Habilitação perante a RFB entre jan/2026 e dez/2028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Requisito: titular de incentivo concedido até 31/05/2023 e cumprimento dos requisitos da LC 160/2017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Incentivo deve ser concedido sobre prazo certo, sob condição, com efetiva repercussão econômica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 Tributária — Tributação no Destino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(ISS): alíquota do município de ORIGEM do prestador (2% em Eusébio, por ex.)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REFORMA: alíquota do município de DESTINO do tomador, independente de onde está o prestador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Planejamentos tributários envolvendo domicílio do prestador devem ser revistos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comparativo: ISS hoje = 5,65% total  |  IVA novo (2033) = 28% por fora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A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Impactos no Setor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Prestação de Serviços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Precificar com a Reforma Tributária?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— Impostos embutidos no preço bruto (técnica de "gross up")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bruto R$ 1.094,69 → ISS R$ 54,73 + PIS/COFINS R$ 39,96 → Receita Líquida R$ 1.000,00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1280160"/>
            <a:ext cx="58521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REFORMA — Impostos cobrados "por fora" do preço líquido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Líquido R$ 1.000,00 + IBS R$ 180,00 + CBS R$ 100,00 → Preço Bruto R$ 1.280,00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enxerga claramente qual parcela é tributo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0" cy="4937760"/>
          </a:xfrm>
          <a:prstGeom prst="line">
            <a:avLst/>
          </a:prstGeom>
          <a:noFill/>
          <a:ln w="19050">
            <a:solidFill>
              <a:srgbClr val="EE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Cumulatividade — Comparativo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PIS/COFINS/ICMS/ISS: não cumulatividade TRADICIONAL (crédito restrito)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de mercadorias, insumos, comunicação, transporte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ISS: poucos créditos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 uso e consumo: raramente creditável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1280160"/>
            <a:ext cx="58521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IBS/CBS: não cumulatividade PLENA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que tenha relação com a atividade da empresa gera crédito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Exceção: bens/serviços de uso e consumo pessoal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Inclui: aluguéis, intangíveis, serviços de terceiros...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0" cy="4937760"/>
          </a:xfrm>
          <a:prstGeom prst="line">
            <a:avLst/>
          </a:prstGeom>
          <a:noFill/>
          <a:ln w="19050">
            <a:solidFill>
              <a:srgbClr val="EE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Reconhecer Despesas com a Reforma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HOJE: Preço bruto R$ 1.800,00 → ISS R$ 90,00 + PIS/COFINS R$ 65,70 → Custo líquido R$ 1.644,30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REFORMA: Preço Líquido R$ 1.644,30 + IBS R$ 295,97 + CBS R$ 164,43 → Preço Bruto R$ 2.104,70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a compensar: R$ 460,40 — reduz o custo efetivo da operação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deve ser caso a caso — empresas com alto volume de compras podem ter redução de carga líquida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Alíquotas — Conceitos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Referência: definida pelo Senado Federal via TCU; mantém carga neutra; é o padrão em caso de omissão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Padrão: definida por cada ente federado (União→CBS, Estados→IBS, Municípios→IBS)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Liberdade para adotar a referência ou alíquota própria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padrão aplica-se a TODAS as operações com bens e serviços naquele local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temporal: destino da operação define a alíquota aplicável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Alíquotas por Setor — Impacto Estimado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/>
              <a:tblGrid>
                <a:gridCol w="3870960"/>
                <a:gridCol w="3870960"/>
                <a:gridCol w="3870960"/>
              </a:tblGrid>
              <a:tr h="883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Redução de Alíquota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Escolas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Estimado aumento de carga; Simples não muda a priori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Clínicas Médicas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estrutura de custos; Simples não muda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Advogados e Contadores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Maior custo com folha (sem crédito); possível repasse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Serviços em Geral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(sem redução)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Alíquota cheia de 28%; impacto severo se cliente for PF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Cesta Básica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Alíquota zero — isenção 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das Alíquotas — Regime Geral (sem redução)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/>
              <a:tblGrid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</a:tblGrid>
              <a:tr h="662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Tributo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Hoje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IRPJ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Cuidados com o Fato Gerador — Novidades de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2026: fato gerador = operação onerosa com outras pessoas (físicas ou jurídicas)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Aluguel, cessão, permuta e outros itens que HOJE NÃO são tributados, passarão a ser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margem para não pagamento de impostos por omissão de fato gerador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com partes relacionadas: distribuição gratuita de bens/serviços pela PJ = fato gerador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Ex.: pagamento de escola do filho pela PJ, despesas de sócios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 entre PJs do mesmo grupo econômico visando economia tributária passa a ser monitorada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Ficam os Contribuintes do Simples Nacional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Simples NÃO será afetado pelo regime regular de IBS e CBS — por regra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Opcionalmente, contribuinte pode aderir ao regime regular de IBS/CBS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optar, a parcela de IBS/CBS sai do DAS; cliente PJ pode tomar crédito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 empresa do Simples que vende para cliente Simples → nenhum crédito para o adquirente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B2B: pode ser vantajoso migrar para o regime regular quando a maioria dos clientes for PJ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no Simples: carga efetiva antes = depois da reforma (NADA MUDA)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Escritório contábil no Simples: idem → avaliar caso a caso se compensa migrar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A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Não Cumulatividade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Split Payment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Cumulatividade — Art. 47 da LC 214/25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Creditamento de toda operação onerada com IBS e CBS desde que extinta por modalidade do art. 27 (Split Payment)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de Caixa (Art. 47)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Condicionantes ao crédito: I. documento fiscal idôneo; II. apuração segregada CBS x IBS sem compensação cruzada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Nacional: vedado o crédito pelo regime regular — permitido apropriar crédito pago no regime único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Estornos: operações com alíquota reduzida NÃO acarretam estorno de créditos (Art. 47, § 10)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Bens de Uso e Consumo Pessoal — Sem Crédito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Joias, pedras e metais preciosos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Obras de arte e antiguidades de valor histórico/arqueológico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Bebidas alcoólicas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Derivados do tabaco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e) Armas e munições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f) Bens e serviços recreativos, esportivos e estéticos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Exceção: quando destinados à atividade-fim (ex.: fábrica de bebidas, empresa de segurança)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Também sem crédito: bens fornecidos gratuitamente a sócios, empregados, cônjuges e parentes até 3º grau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Exceção: EPIs, fardamentos, serviços de saúde, planos de saúde, creche e benefícios trabalhistas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 — Formas de Extinção do Tributo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Recolhimento do saldo devedor (forma tradicional)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Compensação: créditos do mesmo período ou de períodos anteriores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Ressarcimento por opção — uso em até 5 anos (valor nominal)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presumido: compras de produtor rural, serviços de transporte de PF, resíduos sólidos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 (3 modalidades): Simplificado | Inteligente | Superinteligente (definitivo)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Split implementado: crédito vinculado ao destaque em nota fiscal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Superinteligente — Como Funciona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emissão da nota: sistema consulta o Comitê Gestor IBS/CBS se há créditos para aquela operação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Atacadista → Varejista (R$ 100 + 28% IVA = R$ 128): Split 1 = R$ 28 enviado ao Comitê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Varejista → Consumidor Final (R$ 150 + 28% IVA = R$ 192): Comitê responde "Sim" (crédito de R$ 28)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2 = R$ 14 (débito R$ 42 - crédito R$ 28); Pagamento R$ 178 (192 - 14)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do IVA na cadeia: R$ 42 — repassado ao Fisco de forma automática e precisa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Inteligente — Sem Consulta Prévia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sem consulta ao Comitê: o sistema presume que há créditos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Atacadista → Varejista: Split 1 = R$ 28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Varejista → Consumidor Final: Split 2 = R$ 42 (valor cheio)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devolve os créditos ao varejista em até 3 dias úteis: R$ 28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final idêntico ao superinteligente — R$ 42 de IVA arrecadado na cadeia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 — Variação em Compras a Prazo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a prazo (90 dias): nenhum Split ocorre na data da operação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só nasce quando houver pagamento (Regime de Caixa)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à vista pelo consumidor final: Split 2 = R$ 42 (valor integral)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ao fluxo de caixa: crédito e débito ocorrem em momentos diferentes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A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Próximos Passos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sua Empresa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— Impacto Real em Empresa de Serviços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Bruta Total atual: R$ 4.532.309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Impostos atuais (ISS + PIS/COFINS): R$ 392.045 (19,25% da RL)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REFORMA — sem repasse de preço: Impostos = R$ 1.614.608 (35,62% da RL)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REFORMA — com repasse (mesma RL): Impostos = R$ 1.504.836 (28,40% da RL)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acumulado até 2033 pode chegar a 85,1% em relação ao recolhimento atual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 Negócios que prestam serviço a Pessoa Física sofrerão impacto severo sem repasse de preço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os Próximos Passos?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Preparação de sistemas da Receita Federal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Adequação de parâmetros de emissão de NF-e com tags do IVA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Técnica nº 004/005 — Adequações da NFSe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Demais normativos regulamentadores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1280160"/>
            <a:ext cx="58521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Simulação de cenários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de contratos e discussão de repasses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de estrutura societária e tributária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estratégico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2027+: Mudança de plantas, operacionalização de decisões tributárias estratégicas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0" cy="4937760"/>
          </a:xfrm>
          <a:prstGeom prst="line">
            <a:avLst/>
          </a:prstGeom>
          <a:noFill/>
          <a:ln w="19050">
            <a:solidFill>
              <a:srgbClr val="EE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Geral de Impactos para Empresas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Sistemas — adequação de ERPs e emissão de NF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Planejamento financeiro — antecipação de caixa pelo Split Payment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Precificação — revisão de portfólio e margens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Mapeamento de riscos — fato gerador ampliado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 Logística e distribuição — tributação no destino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Revisão de contratos — cláusulas de reajuste por reforma tributária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Planejamento tributário — regime Simples vs. Regular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Decisões de investimentos — nova lógica de crédito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1A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Estrutura societária — grupo econômico e operações intragrupo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11521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tributária chegou.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está fazendo para lidar com essa nova realidade?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Oliveira — Consultor Tributário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eduardo@ceotax.com.br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(85) 99938-0443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Eduardo Oliveira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6309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2026-04-01T17:39:47Z</dcterms:created>
  <dcterms:modified xsi:type="dcterms:W3CDTF">2026-04-01T17:39:47Z</dcterms:modified>
</cp:coreProperties>
</file>