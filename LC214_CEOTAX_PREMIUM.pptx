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0"/>
            <a:ext cx="2862072" cy="685800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84048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25880"/>
            <a:ext cx="3749040" cy="3657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55448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 Tributária e Aspectos da LC 214/2025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02920" y="3931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gerais da reforma sobre o consumo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4663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Oliveira  |  Consultor Tributário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2548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65836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  |  eduardo@ceotax.com.br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— Quem Sou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229600" y="1298448"/>
            <a:ext cx="3749040" cy="507492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8" name="Text 5"/>
          <p:cNvSpPr/>
          <p:nvPr/>
        </p:nvSpPr>
        <p:spPr>
          <a:xfrm>
            <a:off x="8275320" y="15544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Oliveira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595360" y="2971800"/>
            <a:ext cx="292608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0" name="Text 7"/>
          <p:cNvSpPr/>
          <p:nvPr/>
        </p:nvSpPr>
        <p:spPr>
          <a:xfrm>
            <a:off x="827532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 Tributário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75320" y="3749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eduardo@ceotax.com.br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(85) 99938-0443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Eduardo Oliveira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1371600"/>
            <a:ext cx="7772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Contador — Ciências Contábeis, Universidade 7 de Setembro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 em Direito, Processo e Planejamento Tributário (UNIFOR)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da CEO Consultoria Tributária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Ex-Consultor Tributário em big four (EY) — auditoria e impostos corporativos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10 anos de experiência contábil/tributária em empresas nacionais e multinacionais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Palestrante registrado no CRC-CE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de extensão e pós-graduação em Direito Tributário e Reforma Tributária há 8+ anos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4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— O que veremos hoje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Introdução — O novo sistema tributário brasileiro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Impactos no setor de prestação de serviços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Não cumulatividade plena e Split Payment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Próximos passos e ações estratégicas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656539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64592" cy="65653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4A62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320040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10896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Novo Sistema Tributário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321040" y="1371600"/>
            <a:ext cx="3657600" cy="3657600"/>
          </a:xfrm>
          <a:prstGeom prst="rect">
            <a:avLst/>
          </a:prstGeom>
          <a:solidFill>
            <a:srgbClr val="DDE4EE"/>
          </a:solidFill>
          <a:ln/>
        </p:spPr>
      </p:sp>
      <p:pic>
        <p:nvPicPr>
          <p:cNvPr id="8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743200"/>
            <a:ext cx="2926080" cy="566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0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30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da Reforma — O que muda?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PIS/COFINS → substituído pela CBS (federal)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ICMS → substituído pelo IBS (subnacional)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ISS → substituído pelo IBS (subnacional)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EXTINÇÃO: IPI (exceto produtos da Zona Franca de Manaus)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CBS: Contribuição sobre Bens e Serviços (Federal — União)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IBS: Imposto sobre Bens e Serviços (Estados e Municípios)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— IS: Imposto Seletivo — bens/serviços prejudiciais à saúde ou meio ambiente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Transição — 2026 a 2033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CBS começa com alíquota teste de 0,9% (fase piloto)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2027: IBS entra com alíquota teste de 0,1%; CBS sobe para 10%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2029–2032: Redução gradual do ISS (de 5% → 0%) e ICMS, aumento progressivo do IBS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2033: Plena vigência — extinção total do ISS e do ICMS; IBS/CBS em alíquotas definitivas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adaptação: empresas terão ~8 anos para ajustar sistemas, contratos e estratégia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do Novo IVA Dual (IBS + CBS)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ampla: incide sobre bens, serviços, aluguéis, intangíveis e mútuos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PLENA: crédito de tudo ligado à atividade (exceto consumo pessoal)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Legislação uniforme: Estado não legisla sobre IVA, apenas fixa alíquota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Neutralidade: decisões econômicas não distorcidas por questões tributárias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Payment: imposto pago automaticamente no ato do pagamento (via meio de pagamento)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por fora: transparência total — cliente vê quanto paga de imposto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Tributação no DESTINO: alíquota do local do comprador, não do vendedor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Incentivos Fiscais — LC 214/25: Quem mantém?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adimplência com as normas do ato concessivo original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 deve envolver ônus reais: expansão, empregos, limitação de preços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são contrapartidas válidas: declarações de intenção, mero cumprimento legal, destinação a fundos (ex: FEEF)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Habilitação obrigatória perante a RFB entre jan/2026 e dez/2028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Valem apenas incentivos concedidos até 31/05/2023 (com cumprimento da LC 160/2017)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certo + condição + repercussão econômica efetiva = requisitos cumulativos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beneficiárias serão compensadas pelo Fundo de Compensação (2029–2032)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Tributação no Destino — Mudança Estrutural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36576" cy="4937760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98448"/>
            <a:ext cx="539496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075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HOJE (origem)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298448"/>
            <a:ext cx="576072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307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COM A REFORMA (destino)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" y="1719072"/>
            <a:ext cx="5623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— ISS (origem): alíquota do município do PRESTADOR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Prestador em Eusébio → ISS 2% (alíquota de Eusébio)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fiscal via domicílio do prestador era comum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1719072"/>
            <a:ext cx="5897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IBS/CBS: alíquota do município do TOMADOR (comprador)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Tomador em Fortaleza → alíquota de Fortaleza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Planejamentos via domicílio do prestador ficam obsoletos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Exemplo: ISS hoje = 5,65% total  |  IVA 2033 = ~28% por fora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5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656539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64592" cy="65653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4A62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320040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10896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no Setor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Prestação de Serviços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321040" y="1371600"/>
            <a:ext cx="3657600" cy="3657600"/>
          </a:xfrm>
          <a:prstGeom prst="rect">
            <a:avLst/>
          </a:prstGeom>
          <a:solidFill>
            <a:srgbClr val="DDE4EE"/>
          </a:solidFill>
          <a:ln/>
        </p:spPr>
      </p:sp>
      <p:pic>
        <p:nvPicPr>
          <p:cNvPr id="8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743200"/>
            <a:ext cx="2926080" cy="566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0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30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Precificar com a Reforma Tributária?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36576" cy="4937760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98448"/>
            <a:ext cx="539496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075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HOJE (impostos por dentro)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298448"/>
            <a:ext cx="576072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307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COM A REFORMA (impostos por fora)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" y="1719072"/>
            <a:ext cx="5623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 embutidos no preço bruto — técnica de "gross up"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Bruto: R$ 1.094,69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ISS: R$ 54,73  |  PIS/COFINS: R$ 39,96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Líquida: R$ 1.000,00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1719072"/>
            <a:ext cx="5897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 destacado separadamente — cliente enxerga tudo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Líquido: R$ 1.000,00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IBS: R$ 180,00  |  CBS: R$ 100,00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Bruto na Nota: R$ 1.280,00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Precificação parte sempre do valor LÍQUIDO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5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— Comparativo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36576" cy="4937760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98448"/>
            <a:ext cx="539496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075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Hoje — Não cumulatividade restrita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298448"/>
            <a:ext cx="576072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307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 a Reforma — Não cumulatividade plena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" y="1719072"/>
            <a:ext cx="5623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PIS/COFINS: crédito restrito a insumos e compras de mercadorias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ICMS: crédito limitado pela não cumulatividade "clássica"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ISS: praticamente sem crédito na saída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 uso e consumo: raramente gera crédito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1719072"/>
            <a:ext cx="5897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de TUDO que tenha relação com a atividade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Aluguéis, intangíveis, serviços de terceiros, seguros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bens/serviços de uso e consumo estritamente pessoal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redução de custo efetivo para empresas com alto volume de compras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5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Alíquotas por Setor — Impacto Estimado</a:t>
            </a:r>
            <a:endParaRPr lang="en-US" sz="2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98448"/>
          <a:ext cx="11750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849880"/>
                <a:gridCol w="2849880"/>
                <a:gridCol w="28498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 de Atuação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Redução Alíquota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Carga Estimada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 Principal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Cesta Básica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Alíquota zero — isenção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Escolas / Educação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~11,2%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Simples Nacional: nada muda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Clínicas Médicas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~11,2%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estrutura de custos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Advogados / Contadores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~19,6%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Repasse possível (clientes PJ)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Serviços em Geral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severo se cliente for PF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Vigilância / Limpeza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folha de pagamento = sem crédito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30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das Alíquotas — Regime Geral (serviços sem redução)</a:t>
            </a:r>
            <a:endParaRPr lang="en-US" sz="2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298448"/>
          <a:ext cx="117500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68705"/>
                <a:gridCol w="1068705"/>
                <a:gridCol w="1068705"/>
                <a:gridCol w="1068705"/>
                <a:gridCol w="1068705"/>
                <a:gridCol w="1068705"/>
                <a:gridCol w="1068705"/>
                <a:gridCol w="1068705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Tributo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Hoje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IRPJ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5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30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Ficam os Contribuintes do Simples Nacional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36576" cy="4937760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98448"/>
            <a:ext cx="539496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075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Regime Simples (padrão)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298448"/>
            <a:ext cx="576072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307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Opção pelo Regime Regular IBS/CBS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" y="1719072"/>
            <a:ext cx="5623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NÃO é afetado pelo regime regular de IBS/CBS — por padrão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efetiva antes = carga efetiva depois da reforma (regra geral)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no Simples (12,3%): NADA MUDA após a reforma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Escritório contábil no Simples (9,8%): NADA MUDA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1719072"/>
            <a:ext cx="5897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Contribuinte PODE optar voluntariamente pelo regime regular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Vantagem: cliente PJ pode tomar crédito do IVA destacado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Risco: se o cliente também for Simples, não há crédito para ele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OBS: empresa do Simples NÃO gera crédito para quem compra sem opção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obrigatória caso a caso!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5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Cuidados com o Fato Gerador — Novidades 2026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 2026: fato gerador = qualquer operação onerosa entre pessoas físicas ou jurídicas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Aluguel, cessão de direitos, permuta — atualmente NÃO tributados — passam a incidir IBS/CBS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gratuita de bens/serviços pela PJ = fato gerador (mesmo sem cobrança)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pagamento de escola do filho pelo CNPJ, despesas de sócios pagas pela empresa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entre PJs do mesmo grupo econômico visando economia tributária passam a ser monitoradas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margem para evitar o pagamento por omissão ou por planejamento de forma jurídica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656539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64592" cy="65653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4A62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320040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10896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Split Payment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321040" y="1371600"/>
            <a:ext cx="3657600" cy="3657600"/>
          </a:xfrm>
          <a:prstGeom prst="rect">
            <a:avLst/>
          </a:prstGeom>
          <a:solidFill>
            <a:srgbClr val="DDE4EE"/>
          </a:solidFill>
          <a:ln/>
        </p:spPr>
      </p:sp>
      <p:pic>
        <p:nvPicPr>
          <p:cNvPr id="8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743200"/>
            <a:ext cx="2926080" cy="566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0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30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Cumulatividade — Art. 47 da LC 214/25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sobre toda operação onerada com IBS/CBS, extinta conforme art. 27 (Split Payment)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de Caixa: crédito nasce no pagamento, não na aquisição (Art. 47)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Condicionante I: documento fiscal idôneo emitido regularmente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Condicionante II: apuração segregada — sem compensação cruzada de CBS × IBS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Nacional: vedado o crédito integral; permite crédito do valor pago no regime único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Estornos: operações com alíquota reduzida NÃO obrigam estorno de créditos (Art. 47, § 10)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Bens de Uso e Consumo Pessoal — Sem Direito a Crédito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Joias, pedras e metais preciosos; b) Obras de arte e antiguidades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Bebidas alcoólicas; d) Derivados do tabaco; e) Armas e munições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f) Bens e serviços recreativos, esportivos e estéticos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destinados à atividade-fim (ex.: fábrica de bebidas, empresa de segurança)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Também sem crédito: bens fornecidos gratuitamente a sócios, diretores, empregados e familiares até 3º grau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EXCEÇÃO: EPIs, fardamentos, saúde ocupacional, planos de saúde, creche e benefícios trabalhistas legais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 em regulamento: lista aberta para outros itens não classificados como consumo pessoal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 — As 3 Modalidades + Formas de Extinção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SPLIT SIMPLIFICADO: o split ocorre no pagamento, sem consulta — crédito depois devolvido em 3 dias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SPLIT INTELIGENTE: consulta ao Comitê Gestor antes do pagamento — split já considera créditos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SPLIT SUPERINTELIGENTE (definitivo): sistema totalmente automatizado e integrado em tempo real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Outras formas de extinção do tributo: recolhimento direto do saldo devedor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Compensação: créditos do mesmo período ou de períodos anteriores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Ressarcimento por opção — prazo de uso: até 5 anos (valor nominal)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presumido: compras de produtor rural, transporte por PF, resíduos sólidos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Superinteligente — Fluxo da Cadeia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36576" cy="4937760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98448"/>
            <a:ext cx="539496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075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1ª Etapa: Atacadista → Varejista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298448"/>
            <a:ext cx="576072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307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2ª Etapa: Varejista → Consumidor Final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" y="1719072"/>
            <a:ext cx="5623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ATACADISTA vende para VAREJISTA: R$ 100 + 28% IVA = R$ 128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1: R$ 28 vai direto ao Comitê Gestor IBS/CBS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VAREJISTA acumula crédito de R$ 28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1719072"/>
            <a:ext cx="5897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VAREJISTA vende para CONSUMIDOR: R$ 150 + 28% IVA = R$ 192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confirma crédito de R$ 28; Split 2 = R$ 14 (R$ 42 - R$ 28)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líquido: R$ 192 - R$ 14 = R$ 178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IVA arrecadado na cadeia: R$ 42 ✅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5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Payment — Compras a Prazo (Regime de Caixa)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a prazo de 90 dias: nenhum Split ocorre na emissão da nota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só nasce no momento do PAGAMENTO efetivo (regime de caixa)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Débito do vendedor: também reconhecido apenas no recebimento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à vista pelo consumidor final: Split 2 = R$ 42 (valor integral imediato)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PRÁTICO: empresas com alto prazo médio de recebimento sentirão mais o efeito de caixa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necessário revisar políticas de crédito e prazo com clientes para adequação ao novo fluxo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046720" cy="6565392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64592" cy="65653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4A62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320040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10896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sua Empresa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321040" y="1371600"/>
            <a:ext cx="3657600" cy="3657600"/>
          </a:xfrm>
          <a:prstGeom prst="rect">
            <a:avLst/>
          </a:prstGeom>
          <a:solidFill>
            <a:srgbClr val="DDE4EE"/>
          </a:solidFill>
          <a:ln/>
        </p:spPr>
      </p:sp>
      <p:pic>
        <p:nvPicPr>
          <p:cNvPr id="8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743200"/>
            <a:ext cx="2926080" cy="5669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0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30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— Impacto Real em Empresa de Serviços (Regime Geral)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36576" cy="4937760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98448"/>
            <a:ext cx="539496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075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Sem repasse de preço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298448"/>
            <a:ext cx="576072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307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Com repasse (mesma Receita Líquida)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" y="1719072"/>
            <a:ext cx="5623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 Atual: R$ 4.532.309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 atuais: R$ 392.045 (ISS 5% + PIS/COFINS 3,65%) — carga 19,25%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repasse de preço (2033): Impostos = R$ 1.614.608 — carga 35,62%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1719072"/>
            <a:ext cx="5897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Bruta sobe para R$ 5.299.538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Impostos: R$ 1.504.836 — carga 28,40%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praticamente igual ao atual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CONCLUSÃO: repassar preço é ESSENCIAL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acumulado de recolhimento até 2033: até 85,1%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5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Primeiras Controvérsias Tributárias — LC 214/25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Debate: IBS/CBS deve ou não compor a base de cálculo do ICMS/ISS durante a transição?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2027: IVA de R$ 500.000 incluso na base → diferença de ISS/ICMS = R$ 25.000 a mais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2033: IVA de R$ 1.400.000 incluso na base → diferença = R$ 70.000 a mais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 lei propõe exclusão do IBS/CBS da base do ICMS — ainda sem aprovação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 tributário: IVA não deve onerar a base de outros impostos sobre o mesmo fato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 regulamentação: decisão impacta diretamente o DRE no período de transição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O que sua empresa deve fazer?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36576" cy="4937760"/>
          </a:xfrm>
          <a:prstGeom prst="rect">
            <a:avLst/>
          </a:prstGeom>
          <a:solidFill>
            <a:srgbClr val="DDE4EE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298448"/>
            <a:ext cx="539496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3075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2025–2026 (Agora!)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298448"/>
            <a:ext cx="5760720" cy="310896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3075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2027+ (Implementação)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" y="1719072"/>
            <a:ext cx="56235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de cenários tributários (urgente — 2025/2026)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contratos: cláusulas de reajuste por impacto normativo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de estrutura societária e tributária (holding, CSC, etc.)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regime Simples vs. Regime Regular para 2027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1719072"/>
            <a:ext cx="58978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Adequação de sistemas (ERP, NF-e, NFS-e) — tags do IVA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 de plantas industriais e logística considerando tributação no destino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Operacionalização das decisões tributárias estratégicas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de equipes financeiras e contábeis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 de regulamentações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5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Geral — Áreas de Impacto nas Empresas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Sistemas — ERPs, emissão de NF, tags do IVA, apuração assistida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Planejamento financeiro — Split Payment antecipa recolhimento; rever fluxo de caixa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Precificação — revisar portfólio, margens e repasse ao cliente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Mapeamento de riscos — fato gerador ampliado, operações intragrupo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Logística e distribuição — tributação muda conforme destino da mercadoria/serviço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Contratos — incluir cláusulas de reajuste por variação tributária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Planejamento tributário — Simples vs. Regime Regular; estrutura societária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Investimentos — nova lógica de crédito amplo altera análise de viabilidade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da Reforma — 3 Fases Estratégicas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FASE 1 — Garantia da Operação (2025–2026): entender a lei, simular cenários, adaptar sistemas e NF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FASE 2 — Planejamento (2026–2028): rever contratos, estrutura societária, decisão Simples vs. Regular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FASE 3 — Adequação ao Novo Cenário (2027–2033): implementação plena, monitoramento, otimização contínua</a:t>
            </a:r>
            <a:endParaRPr lang="en-US" sz="1500" dirty="0"/>
          </a:p>
          <a:p>
            <a:pPr>
              <a:spcAft>
                <a:spcPts val="600"/>
              </a:spcAft>
            </a:pP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 oferece suporte completo em todas as fases — diagnóstico, planejamento e execução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D34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5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01168"/>
            <a:ext cx="2560320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91440"/>
            <a:ext cx="8869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Frequentes — Pontos de Atenção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1704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meu negócio começa a sentir o impacto? → Em 2027 com entrada do IBS (1,8%)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Simples Nacional acaba? → NÃO. Continua, mas perde o crédito para quem compra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 pagar mais imposto? → Depende do setor, estrutura de custos e se você repassar preço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mais urgente fazer AGORA? → Simular cenários e revisar contratos com cláusula tributária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empresa de serviços terá alíquota cheia de 28%? → Somente se não tiver redução prevista na LC 214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optar pelo regime regular sendo Simples? → Depende: analisar perfil de clientes (PJ vs. PF)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9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525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565392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565392"/>
          </a:xfrm>
          <a:prstGeom prst="rect">
            <a:avLst/>
          </a:prstGeom>
          <a:solidFill>
            <a:srgbClr val="F4A620"/>
          </a:solidFill>
          <a:ln/>
        </p:spPr>
      </p:sp>
      <p:pic>
        <p:nvPicPr>
          <p:cNvPr id="4" name="Image 0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"/>
            <a:ext cx="3657600" cy="6949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3657600" cy="45720"/>
          </a:xfrm>
          <a:prstGeom prst="rect">
            <a:avLst/>
          </a:prstGeom>
          <a:solidFill>
            <a:srgbClr val="F4A620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reforma tributária chegou.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2423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sua empresa está fazendo para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4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com essa nova realidade?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65760" y="4023360"/>
            <a:ext cx="7955280" cy="4572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em contato: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6634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eduardo@ceotax.com.br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(85) 99938-0443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Eduardo Oliveira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32520" y="13716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1525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5200" dirty="0"/>
          </a:p>
        </p:txBody>
      </p:sp>
      <p:sp>
        <p:nvSpPr>
          <p:cNvPr id="12" name="Shape 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D3461"/>
          </a:solidFill>
          <a:ln/>
        </p:spPr>
      </p:sp>
      <p:pic>
        <p:nvPicPr>
          <p:cNvPr id="13" name="Image 1" descr="C:\Users\Matheus\Documents\matafome-landing-atualizado\matafome-landing-atualizado\extracted_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574536"/>
            <a:ext cx="1417320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0" y="6583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114800" y="658368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ceotax.com.br  |  (85) 99938-0443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2026-04-01T17:52:08Z</dcterms:created>
  <dcterms:modified xsi:type="dcterms:W3CDTF">2026-04-01T17:52:08Z</dcterms:modified>
</cp:coreProperties>
</file>