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6967728" y="0"/>
            <a:ext cx="164592" cy="685800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10058400" y="0"/>
            <a:ext cx="2130552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0515600" y="2286000"/>
            <a:ext cx="1097280" cy="109728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10789920" y="4114800"/>
            <a:ext cx="640080" cy="640080"/>
          </a:xfrm>
          <a:prstGeom prst="rect">
            <a:avLst/>
          </a:prstGeom>
          <a:solidFill>
            <a:srgbClr val="3D5A80"/>
          </a:solidFill>
          <a:ln/>
        </p:spPr>
      </p:sp>
      <p:pic>
        <p:nvPicPr>
          <p:cNvPr id="7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4206240" cy="8046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353312"/>
            <a:ext cx="4114800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536192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Reforma Tributária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57200" y="2542032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Aspectos da LC 214/2025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57200" y="33375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gerais da reforma sobre o consumo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977640"/>
            <a:ext cx="411480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Oliveira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45720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 Tributário  |  Sócio CEO Consultoria Tributária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9194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eduardo@ceotax.com.br  |  (85) 99938-0443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7" name="Text 14"/>
          <p:cNvSpPr/>
          <p:nvPr/>
        </p:nvSpPr>
        <p:spPr>
          <a:xfrm>
            <a:off x="0" y="6601968"/>
            <a:ext cx="1218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Consultoria Tributária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28016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Oliveira — Consultor Tributário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Shape 11"/>
          <p:cNvSpPr/>
          <p:nvPr/>
        </p:nvSpPr>
        <p:spPr>
          <a:xfrm>
            <a:off x="8451433" y="1078992"/>
            <a:ext cx="3463199" cy="530352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15" name="Shape 12"/>
          <p:cNvSpPr/>
          <p:nvPr/>
        </p:nvSpPr>
        <p:spPr>
          <a:xfrm>
            <a:off x="8451433" y="1078992"/>
            <a:ext cx="201168" cy="53035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6" name="Text 13"/>
          <p:cNvSpPr/>
          <p:nvPr/>
        </p:nvSpPr>
        <p:spPr>
          <a:xfrm>
            <a:off x="8544977" y="1325880"/>
            <a:ext cx="34610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6000" dirty="0"/>
          </a:p>
        </p:txBody>
      </p:sp>
      <p:sp>
        <p:nvSpPr>
          <p:cNvPr id="17" name="Text 14"/>
          <p:cNvSpPr/>
          <p:nvPr/>
        </p:nvSpPr>
        <p:spPr>
          <a:xfrm>
            <a:off x="8544977" y="2331720"/>
            <a:ext cx="3461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anos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638520" y="3246120"/>
            <a:ext cx="3180466" cy="36576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9" name="Text 16"/>
          <p:cNvSpPr/>
          <p:nvPr/>
        </p:nvSpPr>
        <p:spPr>
          <a:xfrm>
            <a:off x="8544977" y="3383280"/>
            <a:ext cx="3461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8544977" y="4114800"/>
            <a:ext cx="3461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anos como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638520" y="4956048"/>
            <a:ext cx="3180466" cy="36576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22" name="Text 19"/>
          <p:cNvSpPr/>
          <p:nvPr/>
        </p:nvSpPr>
        <p:spPr>
          <a:xfrm>
            <a:off x="8544977" y="5074920"/>
            <a:ext cx="3461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 · UNIFOR · CRC-CE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544977" y="5669280"/>
            <a:ext cx="34610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eduardo@ceotax.com.br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(85) 99938-0443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651760" y="1115568"/>
            <a:ext cx="5612587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— Ciências Contábeis, Universidade 7 de Setembro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 em Direito, Processo e Planejamento Tributário (UNIFOR)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 da CEO Consultoria Tributária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Ex-Consultor big four EY — auditoria e impostos corporativos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 em empresas nacionais e multinacionais de diversos portes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Palestrante registrado no CRC-CE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de pós-graduação: Direito Tributário e Reforma Tributária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92024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— O que Veremos Hoje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Introdução — O novo sistema tributário brasileiro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Impactos no setor de prestação de serviços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Não cumulatividade plena e Split Payment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Próximos passos e ações estratégicas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A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4690872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7479792" y="0"/>
            <a:ext cx="5029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111D3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411480" y="3218688"/>
            <a:ext cx="3200400" cy="54864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38328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Novo Sistema Tributário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5074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Objetivos, estrutura e cronograma de transição</a:t>
            </a:r>
            <a:endParaRPr lang="en-US" sz="1400" dirty="0"/>
          </a:p>
        </p:txBody>
      </p:sp>
      <p:pic>
        <p:nvPicPr>
          <p:cNvPr id="8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999232"/>
            <a:ext cx="3931920" cy="749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18120" y="5852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11" name="Text 8"/>
          <p:cNvSpPr/>
          <p:nvPr/>
        </p:nvSpPr>
        <p:spPr>
          <a:xfrm>
            <a:off x="0" y="6601968"/>
            <a:ext cx="1218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320040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da Reforma — O que Muda?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EXTINÇÃO: PIS/COFINS → CBS (federal)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EXTINÇÃO: ICMS → IBS (subnacional, estados)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EXTINÇÃO: ISS → IBS (subnacional, municípios)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EXTINÇÃO: IPI (exceto Zona Franca de Manaus)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— CBS: Contribuição sobre Bens e Serviços (União)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— IBS: Imposto sobre Bens e Serviços (Estados + Municípios)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— IS: Imposto Seletivo (bens/serviços prejudiciais à saúde ou meio ambiente)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384048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de Transição — 2026 a 2033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CBS inicia com alíquota-teste de 0,9% (fase piloto da Receita Federal)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2027: IBS entra com 0,1%; CBS sobe para alíquota padrão de 10%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2029–2032: ISS cai gradualmente (5% → 0%); IBS cresce progressivamente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2033: Plena vigência — ISS e ICMS extintos; IBS/CBS em alíquotas definitivas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empresas têm ~8 anos para adaptar sistemas, contratos e estratégia tributária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448056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Princípios do Novo IVA Dual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ampla: bens, serviços, aluguéis, intangíveis e mútuos — tudo incide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cumulatividade PLENA: crédito de tudo ligado à atividade (exceto consumo pessoal)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Legislação uniforme nacional — Estado não legisla sobre IVA; apenas fixa sua alíquota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Neutralidade: decisões econômicas não podem ser distorcidas por questões tributárias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Payment: tributo pago automaticamente no ato do pagamento via meio de pagamento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por fora: total transparência — cliente vê exatamente quanto paga de imposto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Tributação no DESTINO: alíquota do local do comprador, não do vendedor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512064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Incentivos Fiscais — Quem se Habilita?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adimplência com todas as normas do ato concessivo original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Devem envolver ônus reais: expansão de empreendimento, geração de empregos, limitação de preços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são válidas: declarações de intenção, mero cumprimento legal, destinação a fundos (ex: FEEF)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Habilitação obrigatória na RFB: entre janeiro/2026 e dezembro/2028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incentivos concedidos até 31/05/2023 (com cumprimento da LC 160/2017)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 de Compensação: empresas beneficiárias serão compensadas pelo Estado entre 2029–2032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576072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Tributação no Destino — Mudança Estrutural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Shape 11"/>
          <p:cNvSpPr/>
          <p:nvPr/>
        </p:nvSpPr>
        <p:spPr>
          <a:xfrm>
            <a:off x="2651760" y="1124712"/>
            <a:ext cx="4539996" cy="347472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15" name="Text 12"/>
          <p:cNvSpPr/>
          <p:nvPr/>
        </p:nvSpPr>
        <p:spPr>
          <a:xfrm>
            <a:off x="2724912" y="1143000"/>
            <a:ext cx="4402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HOJE — Tributação na Origem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20356" y="1124712"/>
            <a:ext cx="4585716" cy="34747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7" name="Text 14"/>
          <p:cNvSpPr/>
          <p:nvPr/>
        </p:nvSpPr>
        <p:spPr>
          <a:xfrm>
            <a:off x="7493508" y="114300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COM A REFORMA — Tributação no Destino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65492" y="1563624"/>
            <a:ext cx="36576" cy="4992624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9" name="Text 16"/>
          <p:cNvSpPr/>
          <p:nvPr/>
        </p:nvSpPr>
        <p:spPr>
          <a:xfrm>
            <a:off x="2651760" y="1563624"/>
            <a:ext cx="449427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— ISS: alíquota do servidor (prestador) no município de origem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prestador em Eusébio cobra ISS 2% — mesmo que cliente seja de Fortaleza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fiscal via domicílio do prestador era comum e legal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66076" y="1563624"/>
            <a:ext cx="458571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IBS/CBS: alíquota do município onde está o TOMADOR (comprador)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Domicílio do prestador perde relevância tributária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Planejamentos via mudança de sede do prestador ficam obsoletos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hoje: 5,65% total  |  IVA em 2033: ~28% por fora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A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4690872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7479792" y="0"/>
            <a:ext cx="5029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111D3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411480" y="3218688"/>
            <a:ext cx="3200400" cy="54864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38328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no Setor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Prestação de Serviços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5074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Precificação, alíquotas e créditos</a:t>
            </a:r>
            <a:endParaRPr lang="en-US" sz="1400" dirty="0"/>
          </a:p>
        </p:txBody>
      </p:sp>
      <p:pic>
        <p:nvPicPr>
          <p:cNvPr id="8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999232"/>
            <a:ext cx="3931920" cy="749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18120" y="5852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11" name="Text 8"/>
          <p:cNvSpPr/>
          <p:nvPr/>
        </p:nvSpPr>
        <p:spPr>
          <a:xfrm>
            <a:off x="0" y="6601968"/>
            <a:ext cx="1218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704088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Precificar com a Reforma?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Shape 11"/>
          <p:cNvSpPr/>
          <p:nvPr/>
        </p:nvSpPr>
        <p:spPr>
          <a:xfrm>
            <a:off x="2651760" y="1124712"/>
            <a:ext cx="4539996" cy="347472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15" name="Text 12"/>
          <p:cNvSpPr/>
          <p:nvPr/>
        </p:nvSpPr>
        <p:spPr>
          <a:xfrm>
            <a:off x="2724912" y="1143000"/>
            <a:ext cx="4402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HOJE — Impostos por DENTRO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20356" y="1124712"/>
            <a:ext cx="4585716" cy="34747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7" name="Text 14"/>
          <p:cNvSpPr/>
          <p:nvPr/>
        </p:nvSpPr>
        <p:spPr>
          <a:xfrm>
            <a:off x="7493508" y="114300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COM A REFORMA — Impostos por FORA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65492" y="1563624"/>
            <a:ext cx="36576" cy="4992624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9" name="Text 16"/>
          <p:cNvSpPr/>
          <p:nvPr/>
        </p:nvSpPr>
        <p:spPr>
          <a:xfrm>
            <a:off x="2651760" y="1563624"/>
            <a:ext cx="449427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Impostos embutidos no preço bruto — técnica de "gross up"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Bruto: R$ 1.094,69  →  ISS: R$ 54,73  +  PIS/COFINS: R$ 39,96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Líquida: R$ 1.000,00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66076" y="1563624"/>
            <a:ext cx="458571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Imposto destacado separadamente na nota fiscal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Líquido: R$ 1.000,00  +  IBS: R$ 180  +  CBS: R$ 100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Bruto na Nota: R$ 1.280,00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Precificação parte do valor LÍQUIDO; imposto é acrescido por fora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768096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Alíquotas por Setor — Impacto Estimado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Shape 11"/>
          <p:cNvSpPr/>
          <p:nvPr/>
        </p:nvSpPr>
        <p:spPr>
          <a:xfrm>
            <a:off x="2606040" y="1097280"/>
            <a:ext cx="201168" cy="4032504"/>
          </a:xfrm>
          <a:prstGeom prst="rect">
            <a:avLst/>
          </a:prstGeom>
          <a:solidFill>
            <a:srgbClr val="F4A620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34640" y="1097280"/>
          <a:ext cx="9144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72640"/>
                <a:gridCol w="2072640"/>
                <a:gridCol w="2072640"/>
              </a:tblGrid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Alíquota efetiva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34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Cesta Básica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Isenção total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34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Escolas / Educação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~11,2%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Simples: nada muda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34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Clínicas Médicas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~11,2%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Analisar custos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34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Advogados / Contadores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~19,6%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Repasse viável (PJ)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34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Serviços em Geral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 impacto se PF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34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Vigilância / Limpeza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Folha sem crédito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832104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das Alíquotas — Regime Geral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Shape 11"/>
          <p:cNvSpPr/>
          <p:nvPr/>
        </p:nvSpPr>
        <p:spPr>
          <a:xfrm>
            <a:off x="2606040" y="1097280"/>
            <a:ext cx="201168" cy="4032504"/>
          </a:xfrm>
          <a:prstGeom prst="rect">
            <a:avLst/>
          </a:prstGeom>
          <a:solidFill>
            <a:srgbClr val="F4A620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34640" y="1097280"/>
          <a:ext cx="9144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Tributo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Hoje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34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34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34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34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IRPJ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34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D34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D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896112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Cumulatividade — Comparativo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Shape 11"/>
          <p:cNvSpPr/>
          <p:nvPr/>
        </p:nvSpPr>
        <p:spPr>
          <a:xfrm>
            <a:off x="2651760" y="1124712"/>
            <a:ext cx="4539996" cy="347472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15" name="Text 12"/>
          <p:cNvSpPr/>
          <p:nvPr/>
        </p:nvSpPr>
        <p:spPr>
          <a:xfrm>
            <a:off x="2724912" y="1143000"/>
            <a:ext cx="4402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HOJE — Restrita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20356" y="1124712"/>
            <a:ext cx="4585716" cy="34747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7" name="Text 14"/>
          <p:cNvSpPr/>
          <p:nvPr/>
        </p:nvSpPr>
        <p:spPr>
          <a:xfrm>
            <a:off x="7493508" y="114300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 A REFORMA — Plena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65492" y="1563624"/>
            <a:ext cx="36576" cy="4992624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9" name="Text 16"/>
          <p:cNvSpPr/>
          <p:nvPr/>
        </p:nvSpPr>
        <p:spPr>
          <a:xfrm>
            <a:off x="2651760" y="1563624"/>
            <a:ext cx="449427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restrito a insumos e compras de mercadorias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ICMS: não cumulatividade "clássica" com limitações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ISS: praticamente sem crédito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de uso e consumo: raramente creditável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66076" y="1563624"/>
            <a:ext cx="458571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de TUDO com relação à atividade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Aluguéis, intangíveis, serviços, seguros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Exceção: uso e consumo estritamente pessoal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com alto volume de compras ganham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960120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Nacional — O que Muda?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Shape 11"/>
          <p:cNvSpPr/>
          <p:nvPr/>
        </p:nvSpPr>
        <p:spPr>
          <a:xfrm>
            <a:off x="2651760" y="1124712"/>
            <a:ext cx="4539996" cy="347472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15" name="Text 12"/>
          <p:cNvSpPr/>
          <p:nvPr/>
        </p:nvSpPr>
        <p:spPr>
          <a:xfrm>
            <a:off x="2724912" y="1143000"/>
            <a:ext cx="4402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Regime Simples (padrão)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20356" y="1124712"/>
            <a:ext cx="4585716" cy="34747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7" name="Text 14"/>
          <p:cNvSpPr/>
          <p:nvPr/>
        </p:nvSpPr>
        <p:spPr>
          <a:xfrm>
            <a:off x="7493508" y="114300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Opção Regime Regular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65492" y="1563624"/>
            <a:ext cx="36576" cy="4992624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9" name="Text 16"/>
          <p:cNvSpPr/>
          <p:nvPr/>
        </p:nvSpPr>
        <p:spPr>
          <a:xfrm>
            <a:off x="2651760" y="1563624"/>
            <a:ext cx="449427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NÃO é afetado pelo regime regular de IBS/CBS por padrão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no Simples (12,3%): NADA MUDA após a reforma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Escritório contábil (9,8%): NADA MUDA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66076" y="1563624"/>
            <a:ext cx="458571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Contribuinte pode optar pelo regime regular IBS/CBS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Vantagem: cliente PJ toma crédito do IVA destacado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Risco: se cliente for Simples, não há crédito para ele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obrigatória caso a caso — sem regra geral!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024128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Cuidados com o Fato Gerador em 2026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2026: fato gerador = qualquer operação onerosa entre pessoas (PF ou PJ)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Aluguel, cessão de direitos, permuta — atualmente sem tributação — passam a incidir IBS/CBS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gratuita de bens/serviços pela PJ = fato gerador (mesmo sem cobrança ao cliente)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Atenção: pagamento de escola do filho pelo CNPJ, despesas de sócios cobertas pela empresa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entre PJs do mesmo grupo econômico com fins de economia tributária serão monitoradas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margem de omissão ou planejamento via subterfúgio jurídico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A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4690872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7479792" y="0"/>
            <a:ext cx="5029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111D3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411480" y="3218688"/>
            <a:ext cx="3200400" cy="54864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38328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Cumulatividade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Split Payment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5074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47 da LC 214 e as 3 modalidades</a:t>
            </a:r>
            <a:endParaRPr lang="en-US" sz="1400" dirty="0"/>
          </a:p>
        </p:txBody>
      </p:sp>
      <p:pic>
        <p:nvPicPr>
          <p:cNvPr id="8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999232"/>
            <a:ext cx="3931920" cy="749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18120" y="5852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11" name="Text 8"/>
          <p:cNvSpPr/>
          <p:nvPr/>
        </p:nvSpPr>
        <p:spPr>
          <a:xfrm>
            <a:off x="0" y="6601968"/>
            <a:ext cx="1218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152144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Cumulatividade — Art. 47 da LC 214/25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sobre toda operação onerada com IBS/CBS extinta conforme art. 27 (Split Payment)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de Caixa (Art. 47): crédito nasce no PAGAMENTO, não na aquisição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Condicionante I: documento fiscal idôneo emitido regularmente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Condicionante II: apuração segregada — sem compensação cruzada de CBS × IBS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Nacional: vedado crédito integral; permite crédito do valor pago no regime único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Estornos: alíquota reduzida NÃO obriga estorno de créditos (Art. 47, § 10)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216152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Bens de Uso Pessoal — Sem Crédito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Joias, pedras e metais preciosos; Obras de arte e antiguidades históricas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Bebidas alcoólicas; Derivados do tabaco; Armas e munições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Bens e serviços recreativos, esportivos e estéticos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EXCEÇÃO: quando destinados à atividade-fim (ex.: fábrica de bebidas, empresa de segurança)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Também sem crédito: bens e serviços fornecidos gratuitamente a sócios, diretores, empregados e familiares até 3º grau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EXCEÇÃO: EPIs, fardamentos, saúde ocupacional, planos de saúde, creche e benefícios trabalhistas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aberta: regulamento poderá classificar outros itens como não pessoais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280160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 — As 3 Modalidades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SIMPLIFICADO: split automático no pagamento sem consulta; crédito devolvido em 3 dias úteis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INTELIGENTE: consulta prévia ao Comitê Gestor IBS/CBS; split já desconta créditos antes do pagamento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SUPERINTELIGENTE (definitivo): totalmente integrado e automatizado em tempo real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Outras formas: recolhimento direto do saldo devedor; compensação de períodos anteriores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Ressarcimento por opção — prazo de uso: até 5 anos pelo valor nominal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presumido: compras de produtor rural, transporte por PF, resíduos sólidos coletados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344168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Superinteligente — Fluxo da Cadeia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Shape 11"/>
          <p:cNvSpPr/>
          <p:nvPr/>
        </p:nvSpPr>
        <p:spPr>
          <a:xfrm>
            <a:off x="2651760" y="1124712"/>
            <a:ext cx="4539996" cy="347472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15" name="Text 12"/>
          <p:cNvSpPr/>
          <p:nvPr/>
        </p:nvSpPr>
        <p:spPr>
          <a:xfrm>
            <a:off x="2724912" y="1143000"/>
            <a:ext cx="4402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1ª ETAPA — Atacadista → Varejista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20356" y="1124712"/>
            <a:ext cx="4585716" cy="34747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7" name="Text 14"/>
          <p:cNvSpPr/>
          <p:nvPr/>
        </p:nvSpPr>
        <p:spPr>
          <a:xfrm>
            <a:off x="7493508" y="114300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2ª ETAPA — Varejista → Consumidor Final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65492" y="1563624"/>
            <a:ext cx="36576" cy="4992624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9" name="Text 16"/>
          <p:cNvSpPr/>
          <p:nvPr/>
        </p:nvSpPr>
        <p:spPr>
          <a:xfrm>
            <a:off x="2651760" y="1563624"/>
            <a:ext cx="449427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ATACADISTA → VAREJISTA: R$ 100 + 28% IVA = R$ 128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consulta Comitê: "Há créditos?" → Não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1: R$ 28 vai direto ao Comitê; Varejista acumula crédito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66076" y="1563624"/>
            <a:ext cx="458571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VAREJISTA → CONSUMIDOR: R$ 150 + 28% IVA = R$ 192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consulta: "Há créditos?" → Sim (R$ 28)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2 = R$ 14 (débito R$ 42 – crédito R$ 28)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líquido: R$ 178  |  IVA total cadeia: R$ 42 ✅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408176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e Compras a Prazo — Regime de Caixa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a prazo (90 dias): nenhum Split ocorre na emissão da nota fiscal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nasce apenas no momento do PAGAMENTO efetivo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Débito do vendedor: reconhecido também somente no recebimento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à vista: Split ocorre imediatamente no pagamento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IMPACTO: empresas com alto prazo de recebimento terão maior descasamento de caixa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urgente de políticas de prazo e crédito com clientes é necessária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A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4690872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7479792" y="0"/>
            <a:ext cx="5029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111D38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411480" y="3218688"/>
            <a:ext cx="3200400" cy="54864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38328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Ações Estratégicas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5074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 agora para sua empresa</a:t>
            </a:r>
            <a:endParaRPr lang="en-US" sz="1400" dirty="0"/>
          </a:p>
        </p:txBody>
      </p:sp>
      <p:pic>
        <p:nvPicPr>
          <p:cNvPr id="8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999232"/>
            <a:ext cx="3931920" cy="7498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18120" y="5852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11" name="Text 8"/>
          <p:cNvSpPr/>
          <p:nvPr/>
        </p:nvSpPr>
        <p:spPr>
          <a:xfrm>
            <a:off x="0" y="6601968"/>
            <a:ext cx="1218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536192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— Impacto Real em Empresa de Serviços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Shape 11"/>
          <p:cNvSpPr/>
          <p:nvPr/>
        </p:nvSpPr>
        <p:spPr>
          <a:xfrm>
            <a:off x="2651760" y="1124712"/>
            <a:ext cx="4539996" cy="347472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15" name="Text 12"/>
          <p:cNvSpPr/>
          <p:nvPr/>
        </p:nvSpPr>
        <p:spPr>
          <a:xfrm>
            <a:off x="2724912" y="1143000"/>
            <a:ext cx="4402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Sem repasse de preço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20356" y="1124712"/>
            <a:ext cx="4585716" cy="34747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7" name="Text 14"/>
          <p:cNvSpPr/>
          <p:nvPr/>
        </p:nvSpPr>
        <p:spPr>
          <a:xfrm>
            <a:off x="7493508" y="114300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Com repasse (mesma Receita Líquida)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65492" y="1563624"/>
            <a:ext cx="36576" cy="4992624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9" name="Text 16"/>
          <p:cNvSpPr/>
          <p:nvPr/>
        </p:nvSpPr>
        <p:spPr>
          <a:xfrm>
            <a:off x="2651760" y="1563624"/>
            <a:ext cx="449427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Bruta Atual: R$ 4.532.309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Impostos atuais: R$ 392.045 (ISS 5% + PIS/COFINS 3,65%) — 19,25%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repasse (2033): impostos = R$ 1.614.608 — carga 35,62%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66076" y="1563624"/>
            <a:ext cx="458571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Bruta sobe para R$ 5.299.538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Impostos: R$ 1.504.836 — carga 28,40%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praticamente igual ao atual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CONCLUSÃO: repassar preço é ESSENCIAL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Aumento de recolhimento até 2033: até 85,1%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600200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Primeiras Controvérsias — LC 214/25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Debate: IBS/CBS deve ou não compor a base do ICMS/ISS durante a transição?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2027: IVA de R$ 500k incluso → diferença de ISS/ICMS = R$ 25.000 a mais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2033: IVA de R$ 1,4M incluso → diferença = R$ 70.000 a mais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de lei propõe exclusão do IBS/CBS da base do ICMS — ainda sem aprovação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regulamentação: decisão impacta diretamente o DRE no período de transição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664208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O que Fazer Agora?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Shape 11"/>
          <p:cNvSpPr/>
          <p:nvPr/>
        </p:nvSpPr>
        <p:spPr>
          <a:xfrm>
            <a:off x="2651760" y="1124712"/>
            <a:ext cx="4539996" cy="347472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15" name="Text 12"/>
          <p:cNvSpPr/>
          <p:nvPr/>
        </p:nvSpPr>
        <p:spPr>
          <a:xfrm>
            <a:off x="2724912" y="1143000"/>
            <a:ext cx="4402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2025–2026 (Urgente)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20356" y="1124712"/>
            <a:ext cx="4585716" cy="34747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7" name="Text 14"/>
          <p:cNvSpPr/>
          <p:nvPr/>
        </p:nvSpPr>
        <p:spPr>
          <a:xfrm>
            <a:off x="7493508" y="1143000"/>
            <a:ext cx="44485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2027+ (Implementação)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65492" y="1563624"/>
            <a:ext cx="36576" cy="4992624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9" name="Text 16"/>
          <p:cNvSpPr/>
          <p:nvPr/>
        </p:nvSpPr>
        <p:spPr>
          <a:xfrm>
            <a:off x="2651760" y="1563624"/>
            <a:ext cx="449427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de cenários tributários (urgente — 2025/2026)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de contratos: inserir cláusula de reajuste por variação normativa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da estrutura societária (holding, CSC, operações intragrupo)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migração Simples → Regime Regular para 2027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66076" y="1563624"/>
            <a:ext cx="4585716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Adequar ERP, NF-e e NFS-e: tags do IVA obrigatórias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logística considerando tributação no destino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Treinar equipes financeiras e contábeis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Monitorar regulamentações do Comitê Gestor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728216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Geral de Impactos nas Empresas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Sistemas — ERPs, NF, tags IVA, apuração assistida pelo Comitê Gestor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Planejamento Financeiro — Split antecipa recolhimento; rever fluxo de caixa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Precificação — revisar portfólio, margens e política de repasse ao cliente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Mapeamento de Riscos — fato gerador ampliado, operações intragrupo monitoradas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 Logística — tributação muda conforme destino da mercadoria/serviço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Contratos — cláusulas de reajuste por variação tributária são agora essenciais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Planejamento Tributário — Simples vs. Regular; estrutura societária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Decisões de Investimento — nova lógica de crédito amplo altera viabilidade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792224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da Reforma — 3 Fases Estratégicas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FASE 1 — Garantia da Operação (2025–2026): entender a lei, simular cenários, adaptar sistemas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FASE 2 — Planejamento (2026–2028): rever contratos, estrutura societária, definir regime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FASE 3 — Adequação Plena (2027–2033): implementação, monitoramento e otimização contínua</a:t>
            </a:r>
            <a:endParaRPr lang="en-US" sz="1400" dirty="0"/>
          </a:p>
          <a:p>
            <a:pPr>
              <a:spcAft>
                <a:spcPts val="700"/>
              </a:spcAft>
            </a:pPr>
            <a:endParaRPr lang="en-US" sz="1400" dirty="0"/>
          </a:p>
          <a:p>
            <a:pPr>
              <a:spcAft>
                <a:spcPts val="700"/>
              </a:spcAft>
            </a:pPr>
            <a:r>
              <a:rPr lang="en-US" sz="14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Ceotax oferece suporte completo em todas as fases — diagnóstico, planejamento e execução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3" name="Shape 1"/>
          <p:cNvSpPr/>
          <p:nvPr/>
        </p:nvSpPr>
        <p:spPr>
          <a:xfrm>
            <a:off x="2281428" y="0"/>
            <a:ext cx="50292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256032"/>
            <a:ext cx="19202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713232"/>
            <a:ext cx="1920240" cy="2743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" y="822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2880" y="58521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051560" y="6144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30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" y="6693408"/>
            <a:ext cx="1920240" cy="5029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0" name="Shape 7"/>
          <p:cNvSpPr/>
          <p:nvPr/>
        </p:nvSpPr>
        <p:spPr>
          <a:xfrm>
            <a:off x="201168" y="6693408"/>
            <a:ext cx="1856232" cy="502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256032"/>
            <a:ext cx="9400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Frequentes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651760" y="932688"/>
            <a:ext cx="347472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932688"/>
            <a:ext cx="5879592" cy="457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143000"/>
            <a:ext cx="9354312" cy="5413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meu negócio sentirá o impacto? → Em 2027 com a entrada do IBS (1,8%)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Simples Nacional acaba? → NÃO — continua, mas perde crédito para compradores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 pagar mais imposto? → Depende do setor, custos e se você repassar preço ao cliente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mais urgente fazer AGORA? → Simular cenários e rever contratos com cláusula tributária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 empresa de serviços pagará 28%? → Somente sem redução prevista na LC 214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D2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migrar do Simples para o Regime Regular? → Depende do perfil de clientes (PJ vs. PF)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65760"/>
            <a:ext cx="4114800" cy="612648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4325112" cy="365760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548640" y="4846320"/>
            <a:ext cx="822960" cy="82296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600200" y="5029200"/>
            <a:ext cx="457200" cy="457200"/>
          </a:xfrm>
          <a:prstGeom prst="rect">
            <a:avLst/>
          </a:prstGeom>
          <a:solidFill>
            <a:srgbClr val="3D5A80"/>
          </a:solidFill>
          <a:ln/>
        </p:spPr>
      </p:sp>
      <p:pic>
        <p:nvPicPr>
          <p:cNvPr id="6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4023360" cy="768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98448"/>
            <a:ext cx="3657600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81328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reforma tributária</a:t>
            </a:r>
            <a:endParaRPr lang="en-US" sz="3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chegou.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sua empresa está fazendo para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com essa nova realidade?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4434840"/>
            <a:ext cx="3200400" cy="4572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5902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Fale com a Ceotax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501091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eduardo@ceotax.com.br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53949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(85) 99938-0443  |  ceotax.com.br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57607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Eduardo Oliveira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09560" y="9144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7909560" y="16916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</a:t>
            </a:r>
            <a:endParaRPr lang="en-US" sz="9000" dirty="0"/>
          </a:p>
        </p:txBody>
      </p:sp>
      <p:sp>
        <p:nvSpPr>
          <p:cNvPr id="17" name="Shape 14"/>
          <p:cNvSpPr/>
          <p:nvPr/>
        </p:nvSpPr>
        <p:spPr>
          <a:xfrm>
            <a:off x="8412480" y="3154680"/>
            <a:ext cx="3108960" cy="54864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18" name="Text 15"/>
          <p:cNvSpPr/>
          <p:nvPr/>
        </p:nvSpPr>
        <p:spPr>
          <a:xfrm>
            <a:off x="7909560" y="32918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4000" dirty="0"/>
          </a:p>
        </p:txBody>
      </p:sp>
      <p:sp>
        <p:nvSpPr>
          <p:cNvPr id="19" name="Shape 16"/>
          <p:cNvSpPr/>
          <p:nvPr/>
        </p:nvSpPr>
        <p:spPr>
          <a:xfrm>
            <a:off x="8412480" y="4160520"/>
            <a:ext cx="3108960" cy="54864"/>
          </a:xfrm>
          <a:prstGeom prst="rect">
            <a:avLst/>
          </a:prstGeom>
          <a:solidFill>
            <a:srgbClr val="111D38"/>
          </a:solidFill>
          <a:ln/>
        </p:spPr>
      </p:sp>
      <p:sp>
        <p:nvSpPr>
          <p:cNvPr id="20" name="Text 17"/>
          <p:cNvSpPr/>
          <p:nvPr/>
        </p:nvSpPr>
        <p:spPr>
          <a:xfrm>
            <a:off x="7909560" y="4315968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Tributária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22" name="Text 19"/>
          <p:cNvSpPr/>
          <p:nvPr/>
        </p:nvSpPr>
        <p:spPr>
          <a:xfrm>
            <a:off x="0" y="6601968"/>
            <a:ext cx="12188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D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Consultoria Tributária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2026-04-01T18:04:44Z</dcterms:created>
  <dcterms:modified xsi:type="dcterms:W3CDTF">2026-04-01T18:04:44Z</dcterms:modified>
</cp:coreProperties>
</file>